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1" d="100"/>
          <a:sy n="131" d="100"/>
        </p:scale>
        <p:origin x="1416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B3244-37FD-15AD-B374-DD7F6E6782F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45862" y="6642100"/>
            <a:ext cx="17510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WIPO FOR OFFICIAL USE ONLY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601200" y="4572000"/>
            <a:ext cx="3657600" cy="36576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-457200"/>
            <a:ext cx="1828800" cy="1828800"/>
          </a:xfrm>
          <a:prstGeom prst="ellipse">
            <a:avLst/>
          </a:prstGeom>
          <a:solidFill>
            <a:srgbClr val="1E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6304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1168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56032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10896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65760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5488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5216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080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94944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0" y="3657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046720" y="3657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0" y="3657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44000" y="3657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92640" y="3657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41280" y="3657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8872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73736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28600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83464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8328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93192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48056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2920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57784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12648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67512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22376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772400" y="653796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21040" y="653796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69680" y="653796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418320" y="653796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966960" y="653796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515600" y="653796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0">
                <a:solidFill>
                  <a:srgbClr val="2D2D2D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10972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0" b="0">
                <a:solidFill>
                  <a:srgbClr val="2D2D2D"/>
                </a:solidFill>
                <a:latin typeface="Segoe UI"/>
              </a:defRPr>
            </a:pPr>
            <a:r>
              <a:t>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1148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0">
                <a:solidFill>
                  <a:srgbClr val="2D2D2D"/>
                </a:solidFill>
                <a:latin typeface="Segoe UI"/>
              </a:defRPr>
            </a:pPr>
            <a:r>
              <a:t>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1148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0">
                <a:solidFill>
                  <a:srgbClr val="2D2D2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118872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0">
                <a:solidFill>
                  <a:srgbClr val="FFC107"/>
                </a:solidFill>
                <a:latin typeface="Segoe UI"/>
              </a:defRPr>
            </a:pPr>
            <a:r>
              <a:t>🕵️  Découvrons le...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2011680"/>
            <a:ext cx="9144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Code Morse</a:t>
            </a:r>
            <a:br/>
            <a:r>
              <a:t>et la Communication !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0">
                <a:solidFill>
                  <a:srgbClr val="BBDEFB"/>
                </a:solidFill>
                <a:latin typeface="Segoe UI"/>
              </a:defRPr>
            </a:pPr>
            <a:r>
              <a:t>Des messages secrets avec des points et des tirets !  ● 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40480" y="4846320"/>
            <a:ext cx="4480560" cy="64008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400" b="1">
                <a:solidFill>
                  <a:srgbClr val="1A237E"/>
                </a:solidFill>
              </a:defRPr>
            </a:pPr>
            <a:r>
              <a:t>● ● ●   ▬ ▬ ▬   ● ● ●   =   SOS !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6692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90CAF9"/>
                </a:solidFill>
                <a:latin typeface="Segoe UI"/>
              </a:defRPr>
            </a:pPr>
            <a:r>
              <a:t>Journée Code et Robots  • 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📡  Le Code Morse – Communication Secrète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  <a:latin typeface="Segoe UI"/>
              </a:defRPr>
            </a:pPr>
            <a:r>
              <a:t>Inventé en 1837 par Samuel Morse – un système de points et de tirets ! ● 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6858000" cy="429768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6492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A237E"/>
                </a:solidFill>
                <a:latin typeface="Segoe UI"/>
              </a:defRPr>
            </a:pPr>
            <a:r>
              <a:t>🔤  Alphabet Morse (les plus courants)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889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7889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● ● 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7889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● ▬ 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78892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● 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29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290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429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4290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 ▬ 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429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4290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▬ 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34290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4290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 ● 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690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0690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J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06908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▬ ▬ 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0690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06908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● 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406908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06908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▬ ● 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70916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70916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70916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 ▬ 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70916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▬ ▬ 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49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349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 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5349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349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349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349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 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3492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78D4"/>
                </a:solidFill>
                <a:latin typeface="Segoe UI"/>
              </a:defRPr>
            </a:pPr>
            <a:r>
              <a:t>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34924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● ● ● 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2103120"/>
            <a:ext cx="4114800" cy="42976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772400" y="219456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E65C00"/>
                </a:solidFill>
                <a:latin typeface="Segoe UI"/>
              </a:defRPr>
            </a:pPr>
            <a:r>
              <a:t>🔑  Les 2 signaux 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79" y="283464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138160" y="2880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Segoe UI"/>
              </a:defRPr>
            </a:pPr>
            <a:r>
              <a:t>●  POINT (court)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33375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Son court : « ti » 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79" y="4023360"/>
            <a:ext cx="347472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38160" y="406908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F8C00"/>
                </a:solidFill>
                <a:latin typeface="Segoe UI"/>
              </a:defRPr>
            </a:pPr>
            <a:r>
              <a:t>▬  TIRET (long)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4526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2D2D2D"/>
                </a:solidFill>
                <a:latin typeface="Segoe UI"/>
              </a:defRPr>
            </a:pPr>
            <a:r>
              <a:t>Son long : « taaa »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955279" y="5212080"/>
            <a:ext cx="3474720" cy="10058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38160" y="5257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91E63"/>
                </a:solidFill>
                <a:latin typeface="Segoe UI"/>
              </a:defRPr>
            </a:pPr>
            <a:r>
              <a:t>🆘  SOS en Morse 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7150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D2D2D"/>
                </a:solidFill>
                <a:latin typeface="Segoe UI"/>
              </a:defRPr>
            </a:pPr>
            <a:r>
              <a:t>● ● ●   ▬ ▬ ▬   ● ● 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🧩  Exercice : Décodez le Morse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E65C00"/>
                </a:solidFill>
                <a:latin typeface="Segoe UI"/>
              </a:defRPr>
            </a:pPr>
            <a:r>
              <a:t>Utilisez le tableau pour décoder ces messages secrets ! 🕵️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0332720" cy="100584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78D4"/>
                </a:solidFill>
                <a:latin typeface="Segoe UI"/>
              </a:defRPr>
            </a:pPr>
            <a:r>
              <a:t>● ● ●   ▬ ▬ ▬   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💡 Indice : 3 lettres – un message très célèbre 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331720"/>
            <a:ext cx="2743200" cy="640080"/>
          </a:xfrm>
          <a:prstGeom prst="roundRect">
            <a:avLst/>
          </a:prstGeom>
          <a:solidFill>
            <a:srgbClr val="0078D4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❓ Réponse 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37560"/>
            <a:ext cx="10332720" cy="10058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29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290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C853"/>
                </a:solidFill>
                <a:latin typeface="Segoe UI"/>
              </a:defRPr>
            </a:pPr>
            <a:r>
              <a:t>● ● ● ●   ●   ● ▬ ● ●   ● ▬ ● ●   ▬ ▬ 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886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💡 Indice : 5 lettres – un mot de bienvenue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74720"/>
            <a:ext cx="2743200" cy="640080"/>
          </a:xfrm>
          <a:prstGeom prst="roundRect">
            <a:avLst/>
          </a:prstGeom>
          <a:solidFill>
            <a:srgbClr val="00C853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❓ Réponse 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10332720" cy="1005840"/>
          </a:xfrm>
          <a:prstGeom prst="roundRect">
            <a:avLst/>
          </a:prstGeom>
          <a:solidFill>
            <a:srgbClr val="F3E5F5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3️⃣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720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7B2D8E"/>
                </a:solidFill>
                <a:latin typeface="Segoe UI"/>
              </a:defRPr>
            </a:pPr>
            <a:r>
              <a:t>▬ ●   ▬ ▬ ▬   ▬ 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29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💡 Indice : 3 lettres – opposé de « oui 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617720"/>
            <a:ext cx="2743200" cy="640080"/>
          </a:xfrm>
          <a:prstGeom prst="roundRect">
            <a:avLst/>
          </a:prstGeom>
          <a:solidFill>
            <a:srgbClr val="7B2D8E"/>
          </a:solidFill>
          <a:ln w="2540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❓ Réponse 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623560"/>
            <a:ext cx="10332720" cy="100584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  <a:latin typeface="Segoe UI"/>
              </a:defRPr>
            </a:pPr>
            <a:r>
              <a:t>4️⃣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1500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E91E63"/>
                </a:solidFill>
                <a:latin typeface="Segoe UI"/>
              </a:defRPr>
            </a:pPr>
            <a:r>
              <a:t>▬ ▬ ▬   ● ● ▬   ● 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1722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Segoe UI"/>
              </a:defRPr>
            </a:pPr>
            <a:r>
              <a:t>💡 Indice : 3 lettres – c'est vous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760720"/>
            <a:ext cx="2743200" cy="640080"/>
          </a:xfrm>
          <a:prstGeom prst="roundRect">
            <a:avLst/>
          </a:prstGeom>
          <a:solidFill>
            <a:srgbClr val="E91E63"/>
          </a:solidFill>
          <a:ln w="25400">
            <a:solidFill>
              <a:srgbClr val="E91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❓ Réponse 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📻  Mission Morse avec micro:bit 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Segoe UI"/>
              </a:defRPr>
            </a:pPr>
            <a:r>
              <a:t>On va utiliser les micro:bits pour envoyer des messages en Morse par radio ! 🕵️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486400" cy="3200400"/>
          </a:xfrm>
          <a:prstGeom prst="roundRect">
            <a:avLst/>
          </a:prstGeom>
          <a:solidFill>
            <a:srgbClr val="E0F2F1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9688"/>
                </a:solidFill>
                <a:latin typeface="Segoe UI"/>
              </a:defRPr>
            </a:pPr>
            <a:r>
              <a:t>🎮  Les commandes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4937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2D2D2D"/>
                </a:solidFill>
                <a:latin typeface="Segoe UI"/>
              </a:defRPr>
            </a:pPr>
            <a:r>
              <a:t>🅰️  Bouton A  →  Point  ●  (ti)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🅱️  Bouton B  →  Tiret  ▬  (taaa)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🅰️+🅱️  A+B  →  Fin de lettre  ✉️</a:t>
            </a:r>
          </a:p>
          <a:p>
            <a:pPr algn="l">
              <a:spcBef>
                <a:spcPts val="1400"/>
              </a:spcBef>
              <a:spcAft>
                <a:spcPts val="600"/>
              </a:spcAft>
              <a:defRPr sz="2000" b="0">
                <a:solidFill>
                  <a:srgbClr val="2D2D2D"/>
                </a:solidFill>
                <a:latin typeface="Segoe UI"/>
              </a:defRPr>
            </a:pPr>
            <a:r>
              <a:t>👆  Secouer  →  Fin de mot  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94560"/>
            <a:ext cx="5486400" cy="3200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E65C00"/>
                </a:solidFill>
                <a:latin typeface="Segoe UI"/>
              </a:defRPr>
            </a:pPr>
            <a:r>
              <a:t>🏆  Le défi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937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D2D2D"/>
                </a:solidFill>
                <a:latin typeface="Segoe UI"/>
              </a:defRPr>
            </a:pPr>
            <a:r>
              <a:t>1️⃣ L'instructeur va dans une autre salle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900" b="0">
                <a:solidFill>
                  <a:srgbClr val="2D2D2D"/>
                </a:solidFill>
                <a:latin typeface="Segoe UI"/>
              </a:defRPr>
            </a:pPr>
            <a:r>
              <a:t>2️⃣ Il envoie un message Morse par radio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900" b="0">
                <a:solidFill>
                  <a:srgbClr val="2D2D2D"/>
                </a:solidFill>
                <a:latin typeface="Segoe UI"/>
              </a:defRPr>
            </a:pPr>
            <a:r>
              <a:t>3️⃣ Votre micro:bit reçoit les signaux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900" b="0">
                <a:solidFill>
                  <a:srgbClr val="2D2D2D"/>
                </a:solidFill>
                <a:latin typeface="Segoe UI"/>
              </a:defRPr>
            </a:pPr>
            <a:r>
              <a:t>4️⃣ Vous décodez le message !</a:t>
            </a:r>
          </a:p>
          <a:p>
            <a:pPr algn="l">
              <a:spcBef>
                <a:spcPts val="1000"/>
              </a:spcBef>
              <a:spcAft>
                <a:spcPts val="400"/>
              </a:spcAft>
              <a:defRPr sz="1900" b="0">
                <a:solidFill>
                  <a:srgbClr val="2D2D2D"/>
                </a:solidFill>
                <a:latin typeface="Segoe UI"/>
              </a:defRPr>
            </a:pPr>
            <a:r>
              <a:t>5️⃣ Qui trouvera le message en premier ? 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  <a:latin typeface="Segoe UI"/>
              </a:defRPr>
            </a:pPr>
            <a:r>
              <a:t>🎯  Niveaux de difficulté 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943600"/>
            <a:ext cx="3474720" cy="9144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Segoe UI"/>
              </a:defRPr>
            </a:pPr>
            <a:r>
              <a:t>⭐  Débutant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Recevez les points et tirets</a:t>
            </a:r>
            <a:br/>
            <a:r>
              <a:t>et décodez avec le tableau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943600"/>
            <a:ext cx="3474720" cy="9144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5989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Segoe UI"/>
              </a:defRPr>
            </a:pPr>
            <a:r>
              <a:t>⭐⭐  Intermédiaire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63093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Décodez la lettre entière</a:t>
            </a:r>
            <a:br/>
            <a:r>
              <a:t>puis le mot complet !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5943600"/>
            <a:ext cx="3474720" cy="914400"/>
          </a:xfrm>
          <a:prstGeom prst="roundRect">
            <a:avLst/>
          </a:prstGeom>
          <a:solidFill>
            <a:srgbClr val="FCE4EC"/>
          </a:solidFill>
          <a:ln w="25400"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598932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E53935"/>
                </a:solidFill>
                <a:latin typeface="Segoe UI"/>
              </a:defRPr>
            </a:pPr>
            <a:r>
              <a:t>⭐⭐⭐  Expert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3093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Segoe UI"/>
              </a:defRPr>
            </a:pPr>
            <a:r>
              <a:t>Projets avancés et</a:t>
            </a:r>
            <a:br/>
            <a:r>
              <a:t>personnalisation du code 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2743200" cy="2743200"/>
          </a:xfrm>
          <a:prstGeom prst="ellipse">
            <a:avLst/>
          </a:prstGeom>
          <a:solidFill>
            <a:srgbClr val="283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46304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01168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6032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10896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65760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20624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8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30352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5216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4944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98080" y="4572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046720" y="4572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95360" y="4572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144000" y="4572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92640" y="4572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241280" y="4572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8872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73736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28600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83464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38328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3192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48056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02920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57784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2648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67512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22376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772400" y="5943600"/>
            <a:ext cx="137160" cy="1371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21040" y="5943600"/>
            <a:ext cx="137160" cy="1371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869680" y="5943600"/>
            <a:ext cx="137160" cy="137160"/>
          </a:xfrm>
          <a:prstGeom prst="ellipse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418320" y="5943600"/>
            <a:ext cx="137160" cy="1371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966960" y="5943600"/>
            <a:ext cx="137160" cy="137160"/>
          </a:xfrm>
          <a:prstGeom prst="ellipse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515600" y="5943600"/>
            <a:ext cx="137160" cy="1371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0" b="0">
                <a:solidFill>
                  <a:srgbClr val="2D2D2D"/>
                </a:solidFill>
                <a:latin typeface="Segoe UI"/>
              </a:defRPr>
            </a:pPr>
            <a:r>
              <a:t>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137160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000" b="0">
                <a:solidFill>
                  <a:srgbClr val="2D2D2D"/>
                </a:solidFill>
                <a:latin typeface="Segoe UI"/>
              </a:defRPr>
            </a:pPr>
            <a:r>
              <a:t>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8404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0">
                <a:solidFill>
                  <a:srgbClr val="2D2D2D"/>
                </a:solidFill>
                <a:latin typeface="Segoe UI"/>
              </a:defRPr>
            </a:pPr>
            <a:r>
              <a:t>🕵️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840480"/>
            <a:ext cx="1828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000" b="0">
                <a:solidFill>
                  <a:srgbClr val="2D2D2D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C'est l'heure du défi ! 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Segoe UI"/>
              </a:defRPr>
            </a:pPr>
            <a:r>
              <a:t>Préparez vos micro:bits... 📻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86000" y="4754880"/>
            <a:ext cx="758952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60320" y="4846320"/>
            <a:ext cx="7132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A237E"/>
                </a:solidFill>
                <a:latin typeface="Segoe UI"/>
              </a:defRPr>
            </a:pPr>
            <a:r>
              <a:t>📝  Rappel des signaux 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5257800"/>
            <a:ext cx="7132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D2D2D"/>
                </a:solidFill>
                <a:latin typeface="Segoe UI"/>
              </a:defRPr>
            </a:pPr>
            <a:r>
              <a:t>●  Point = signal court    |    ▬  Tiret = signal long    |    Espace = fin de lettre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500</Words>
  <Application>Microsoft Office PowerPoint</Application>
  <PresentationFormat>Widescreen</PresentationFormat>
  <Paragraphs>105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SAVU Dan</cp:lastModifiedBy>
  <cp:revision>5</cp:revision>
  <dcterms:created xsi:type="dcterms:W3CDTF">2013-01-27T09:14:16Z</dcterms:created>
  <dcterms:modified xsi:type="dcterms:W3CDTF">2026-03-27T17:00:36Z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fc084f7-b690-4c43-8ee6-d475b6d3461d_Enabled">
    <vt:lpwstr>true</vt:lpwstr>
  </property>
  <property fmtid="{D5CDD505-2E9C-101B-9397-08002B2CF9AE}" pid="3" name="MSIP_Label_bfc084f7-b690-4c43-8ee6-d475b6d3461d_SetDate">
    <vt:lpwstr>2026-03-27T16:49:27Z</vt:lpwstr>
  </property>
  <property fmtid="{D5CDD505-2E9C-101B-9397-08002B2CF9AE}" pid="4" name="MSIP_Label_bfc084f7-b690-4c43-8ee6-d475b6d3461d_Method">
    <vt:lpwstr>Standard</vt:lpwstr>
  </property>
  <property fmtid="{D5CDD505-2E9C-101B-9397-08002B2CF9AE}" pid="5" name="MSIP_Label_bfc084f7-b690-4c43-8ee6-d475b6d3461d_Name">
    <vt:lpwstr>FOR OFFICIAL USE ONLY</vt:lpwstr>
  </property>
  <property fmtid="{D5CDD505-2E9C-101B-9397-08002B2CF9AE}" pid="6" name="MSIP_Label_bfc084f7-b690-4c43-8ee6-d475b6d3461d_SiteId">
    <vt:lpwstr>faa31b06-8ccc-48c9-867f-f7510dd11c02</vt:lpwstr>
  </property>
  <property fmtid="{D5CDD505-2E9C-101B-9397-08002B2CF9AE}" pid="7" name="MSIP_Label_bfc084f7-b690-4c43-8ee6-d475b6d3461d_ActionId">
    <vt:lpwstr>5b29e55d-1199-4af1-8309-645c3e4a9af1</vt:lpwstr>
  </property>
  <property fmtid="{D5CDD505-2E9C-101B-9397-08002B2CF9AE}" pid="8" name="MSIP_Label_bfc084f7-b690-4c43-8ee6-d475b6d3461d_ContentBits">
    <vt:lpwstr>2</vt:lpwstr>
  </property>
  <property fmtid="{D5CDD505-2E9C-101B-9397-08002B2CF9AE}" pid="9" name="MSIP_Label_bfc084f7-b690-4c43-8ee6-d475b6d3461d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WIPO FOR OFFICIAL USE ONLY </vt:lpwstr>
  </property>
</Properties>
</file>