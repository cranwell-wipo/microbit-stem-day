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1578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78002-E9A7-54A0-2F26-D0E7376589B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40338" y="6642100"/>
            <a:ext cx="1762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WIPO FOR OFFICIAL USE ONLY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1E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10896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5488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4944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9264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73736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8600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83464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8328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3192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8056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2920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7784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2648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7512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4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6968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1832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6696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0">
                <a:solidFill>
                  <a:srgbClr val="2D2D2D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0972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0">
                <a:solidFill>
                  <a:srgbClr val="2D2D2D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1148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0">
                <a:solidFill>
                  <a:srgbClr val="2D2D2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1148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0">
                <a:solidFill>
                  <a:srgbClr val="2D2D2D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C107"/>
                </a:solidFill>
                <a:latin typeface="Segoe UI"/>
              </a:defRPr>
            </a:pPr>
            <a:r>
              <a:t>🚀  Bienvenue à 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201168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Journée Code</a:t>
            </a:r>
            <a:br/>
            <a:r>
              <a:t>et Robots!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Découvrons ensemble le monde du code et des robots 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4663440"/>
            <a:ext cx="3383280" cy="1737360"/>
          </a:xfrm>
          <a:prstGeom prst="roundRect">
            <a:avLst/>
          </a:prstGeom>
          <a:solidFill>
            <a:srgbClr val="00C853"/>
          </a:solidFill>
          <a:ln w="25400">
            <a:solidFill>
              <a:srgbClr val="00A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572000" y="5257800"/>
            <a:ext cx="320040" cy="32004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34840" y="571500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7269480" y="5257800"/>
            <a:ext cx="320040" cy="32004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0" y="571500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05272" y="5010912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806440" y="5010912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007608" y="5010912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208776" y="5010912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9944" y="5010912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605272" y="5212080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806440" y="5212080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007608" y="5212080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208776" y="5212080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409944" y="5212080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605272" y="5413248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806440" y="5413248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007608" y="5413248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208776" y="5413248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9944" y="5413248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605272" y="5614416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806440" y="5614416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6007608" y="5614416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208776" y="5614416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409944" y="5614416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5605272" y="5815584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806440" y="5815584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007608" y="5815584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208776" y="5815584"/>
            <a:ext cx="146304" cy="14630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409944" y="5815584"/>
            <a:ext cx="146304" cy="146304"/>
          </a:xfrm>
          <a:prstGeom prst="roundRect">
            <a:avLst/>
          </a:prstGeom>
          <a:solidFill>
            <a:srgbClr val="00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43200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Segoe UI"/>
              </a:defRPr>
            </a:pPr>
            <a:r>
              <a:t>Mars 2026  •  Une journée pleine de découvertes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  <a:latin typeface="Segoe UI"/>
              </a:defRPr>
            </a:pPr>
            <a:r>
              <a:t>📋  Programme de la Journée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51560"/>
            <a:ext cx="4846320" cy="54864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65836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54480" y="1472184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9h30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44475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8C00"/>
                </a:solidFill>
                <a:latin typeface="Segoe UI"/>
              </a:defRPr>
            </a:pPr>
            <a:r>
              <a:t>Accueil &amp; Croissants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1907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Bienvenue et présentations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9418320" cy="658368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54480" y="2203704"/>
            <a:ext cx="1097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10h00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7627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078D4"/>
                </a:solidFill>
                <a:latin typeface="Segoe UI"/>
              </a:defRPr>
            </a:pPr>
            <a:r>
              <a:t>C'est quoi le code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5059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Intro code &amp; robots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834640"/>
            <a:ext cx="9418320" cy="658368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54480" y="2935224"/>
            <a:ext cx="1097280" cy="4572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10h30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0779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🖨️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880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7B2D8E"/>
                </a:solidFill>
                <a:latin typeface="Segoe UI"/>
              </a:defRPr>
            </a:pPr>
            <a:r>
              <a:t>Impression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821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Découverte avec boîtier micro:bit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566160"/>
            <a:ext cx="9418320" cy="65836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554480" y="3666744"/>
            <a:ext cx="109728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11h00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63931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611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0C853"/>
                </a:solidFill>
                <a:latin typeface="Segoe UI"/>
              </a:defRPr>
            </a:pPr>
            <a:r>
              <a:t>Projets micro:bit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136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Cœur qui bat, animations...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297680"/>
            <a:ext cx="9418320" cy="658368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554480" y="4398264"/>
            <a:ext cx="1097280" cy="4572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11h30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37083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343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E91E63"/>
                </a:solidFill>
                <a:latin typeface="Segoe UI"/>
              </a:defRPr>
            </a:pPr>
            <a:r>
              <a:t>Code Morse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6451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Communication secrète 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029200"/>
            <a:ext cx="9418320" cy="658368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554480" y="5129784"/>
            <a:ext cx="1097280" cy="4572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12h15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10235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074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E53935"/>
                </a:solidFill>
                <a:latin typeface="Segoe UI"/>
              </a:defRPr>
            </a:pPr>
            <a:r>
              <a:t>Déjeuner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37667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Bon appétit 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760720"/>
            <a:ext cx="9418320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554480" y="5861304"/>
            <a:ext cx="109728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14h00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83387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Segoe UI"/>
              </a:defRPr>
            </a:pPr>
            <a:r>
              <a:t>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806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09688"/>
                </a:solidFill>
                <a:latin typeface="Segoe UI"/>
              </a:defRPr>
            </a:pPr>
            <a:r>
              <a:t>Mission Morse Radio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610819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Envoyer des messages secrets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💻  C'est quoi le CODE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Le code, c'est comme une recette magique pour les ordinateurs ! 🧙‍♂️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32004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🗣️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Le langage</a:t>
            </a:r>
            <a:br/>
            <a:r>
              <a:t>des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Les humains parlent français,</a:t>
            </a:r>
            <a:br/>
            <a:r>
              <a:t>les machines parlent en CODE !</a:t>
            </a:r>
            <a:br/>
            <a:r>
              <a:t>C'est leur langue à 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77440"/>
            <a:ext cx="3291840" cy="3200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Segoe UI"/>
              </a:defRPr>
            </a:pPr>
            <a:r>
              <a:t>Des instructions</a:t>
            </a:r>
            <a:br/>
            <a:r>
              <a:t>étape par 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0233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Comme une recette de cuisine :</a:t>
            </a:r>
            <a:br/>
            <a:r>
              <a:t>1. Fais ceci</a:t>
            </a:r>
            <a:br/>
            <a:r>
              <a:t>2. Puis cela</a:t>
            </a:r>
            <a:br/>
            <a:r>
              <a:t>3. Et voilà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377440"/>
            <a:ext cx="3291840" cy="32004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25146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546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D8E"/>
                </a:solidFill>
                <a:latin typeface="Segoe UI"/>
              </a:defRPr>
            </a:pPr>
            <a:r>
              <a:t>On dit à la machine</a:t>
            </a:r>
            <a:br/>
            <a:r>
              <a:t>quoi faire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233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On écrit des ordres et la</a:t>
            </a:r>
            <a:br/>
            <a:r>
              <a:t>machine obéit exactement !</a:t>
            </a:r>
            <a:br/>
            <a:r>
              <a:t>Elle fait ce qu'on lui 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852160"/>
            <a:ext cx="8503920" cy="64008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5897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65C00"/>
                </a:solidFill>
                <a:latin typeface="Segoe UI"/>
              </a:defRPr>
            </a:pPr>
            <a:r>
              <a:t>💡 Le saviez-vous ?  Les jeux vidéo, les applications, et même les dessins animés sont faits avec du code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🌍  Le Code est Partout 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3291840" cy="20116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7B2D8E"/>
                </a:solidFill>
                <a:latin typeface="Segoe UI"/>
              </a:defRPr>
            </a:pPr>
            <a:r>
              <a:t>Jeux vidéo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Minecraft, Roblox...</a:t>
            </a:r>
            <a:br/>
            <a:r>
              <a:t>tout est codé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63040"/>
            <a:ext cx="3291840" cy="20116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YouTube, WhatsApp</a:t>
            </a:r>
            <a:br/>
            <a:r>
              <a:t>utilisent du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63040"/>
            <a:ext cx="3291840" cy="2011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Voitures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Les voitures modernes</a:t>
            </a:r>
            <a:br/>
            <a:r>
              <a:t>ont des ordinateurs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3291840" cy="20116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53935"/>
                </a:solidFill>
                <a:latin typeface="Segoe UI"/>
              </a:defRPr>
            </a:pPr>
            <a:r>
              <a:t>Médecine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Les robots aident</a:t>
            </a:r>
            <a:br/>
            <a:r>
              <a:t>les docteurs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840480"/>
            <a:ext cx="3291840" cy="20116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931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0292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Les fusées sont</a:t>
            </a:r>
            <a:br/>
            <a:r>
              <a:t>guidées par du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840480"/>
            <a:ext cx="3291840" cy="201168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  <a:latin typeface="Segoe UI"/>
              </a:defRPr>
            </a:pPr>
            <a:r>
              <a:t>Films &amp; dessins</a:t>
            </a:r>
            <a:br/>
            <a:r>
              <a:t>animés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92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Les effets spéciaux</a:t>
            </a:r>
            <a:br/>
            <a:r>
              <a:t>sont codés 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5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  <a:latin typeface="Segoe UI"/>
              </a:defRPr>
            </a:pPr>
            <a:r>
              <a:t>🤔  Est-ce que vous pouvez penser à d'autres exemples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📝  Coder, c'est comme une Recette 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B5E20"/>
                </a:solidFill>
                <a:latin typeface="Segoe UI"/>
              </a:defRPr>
            </a:pPr>
            <a:r>
              <a:t>🥞  Recette de crêpes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Segoe UI"/>
              </a:defRPr>
            </a:pPr>
            <a:r>
              <a:t>1️⃣  Prendre de la farine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2️⃣  Ajouter des œufs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3️⃣  Mélanger avec du lait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4️⃣  Verser dans la poêle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5️⃣  Attendre 2 minutes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6️⃣  Retourner la crêpe !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7️⃣  Manger ! 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➡️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  <a:latin typeface="Segoe UI"/>
              </a:defRPr>
            </a:pPr>
            <a:r>
              <a:t>💻  Programme pour un micro:bit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389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Segoe UI"/>
              </a:defRPr>
            </a:pPr>
            <a:r>
              <a:t>1️⃣  Allumer les LED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2️⃣  Afficher un cœur ❤️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3️⃣  Attendre 2 secondes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4️⃣  Afficher un smiley 😊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5️⃣  Jouer un son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6️⃣  Recommencer !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7️⃣  Le micro:bit obéit ! 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6309360"/>
            <a:ext cx="758952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63093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65C00"/>
                </a:solidFill>
                <a:latin typeface="Segoe UI"/>
              </a:defRPr>
            </a:pPr>
            <a:r>
              <a:t>✨ Le code = des instructions dans l'ordre pour que la machine comprenne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🤖  C'est quoi un ROBOT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4A148C"/>
                </a:solidFill>
                <a:latin typeface="Segoe UI"/>
              </a:defRPr>
            </a:pPr>
            <a:r>
              <a:t>Un robot est une machine qui peut faire des choses toute seule grâce au code 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3774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7B2D8E"/>
                </a:solidFill>
                <a:latin typeface="Segoe UI"/>
              </a:defRPr>
            </a:pPr>
            <a:r>
              <a:t>Un cerveau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Un petit ordinateur</a:t>
            </a:r>
            <a:br/>
            <a:r>
              <a:t>qui pense et décide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291840" cy="237744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3774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260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Segoe UI"/>
              </a:defRPr>
            </a:pPr>
            <a:r>
              <a:t>Des capteurs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747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Des yeux et des oreilles</a:t>
            </a:r>
            <a:br/>
            <a:r>
              <a:t>pour voir et entendre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286000"/>
            <a:ext cx="3291840" cy="23774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2D2D2D"/>
                </a:solidFill>
                <a:latin typeface="Segoe UI"/>
              </a:defRPr>
            </a:pPr>
            <a:r>
              <a:t>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Des actionneurs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Des bras et des jambes</a:t>
            </a:r>
            <a:br/>
            <a:r>
              <a:t>pour bouger et agir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A148C"/>
                </a:solidFill>
                <a:latin typeface="Segoe UI"/>
              </a:defRPr>
            </a:pPr>
            <a:r>
              <a:t>Des robots que vous connaissez peut-être 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949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B2D8E"/>
                </a:solidFill>
                <a:latin typeface="Segoe UI"/>
              </a:defRPr>
            </a:pPr>
            <a:r>
              <a:t>Aspirateur</a:t>
            </a:r>
            <a:br/>
            <a:r>
              <a:t>robot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53949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5394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852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Voiture</a:t>
            </a:r>
            <a:br/>
            <a:r>
              <a:t>autonome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3949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5394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852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Robot</a:t>
            </a:r>
            <a:br/>
            <a:r>
              <a:t>usine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53949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5394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852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Segoe UI"/>
              </a:defRPr>
            </a:pPr>
            <a:r>
              <a:t>Robot</a:t>
            </a:r>
            <a:br/>
            <a:r>
              <a:t>chirurgien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3949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5394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852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Robot</a:t>
            </a:r>
            <a:br/>
            <a:r>
              <a:t>chien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2743200" cy="27432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🎬  Pause Vidéo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Regardons des vidéos sur le code et les robots 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42567"/>
            <a:ext cx="8503920" cy="1215033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2534007"/>
            <a:ext cx="795527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Segoe UI"/>
              </a:defRPr>
            </a:pPr>
            <a:r>
              <a:rPr dirty="0"/>
              <a:t>🎥  </a:t>
            </a:r>
            <a:r>
              <a:rPr dirty="0" err="1"/>
              <a:t>Vidéo</a:t>
            </a:r>
            <a:r>
              <a:rPr dirty="0"/>
              <a:t> 1 : </a:t>
            </a:r>
            <a:r>
              <a:rPr dirty="0" err="1"/>
              <a:t>C'est</a:t>
            </a:r>
            <a:r>
              <a:rPr dirty="0"/>
              <a:t> quoi </a:t>
            </a:r>
            <a:r>
              <a:rPr lang="en-US" dirty="0"/>
              <a:t>le code </a:t>
            </a:r>
            <a:r>
              <a:rPr lang="en-US" dirty="0" err="1"/>
              <a:t>informatique</a:t>
            </a:r>
            <a:r>
              <a:rPr lang="en-US" dirty="0"/>
              <a:t> </a:t>
            </a:r>
            <a:r>
              <a:rPr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90830"/>
            <a:ext cx="7772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D2D2D"/>
                </a:solidFill>
                <a:latin typeface="Segoe UI"/>
              </a:defRPr>
            </a:pPr>
            <a:r>
              <a:rPr lang="en-US" b="1" dirty="0"/>
              <a:t>https://www.youtube.com/watch?v=2UqIJlVQE7o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063412"/>
            <a:ext cx="8503920" cy="12801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4154852"/>
            <a:ext cx="7955279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0C853"/>
                </a:solidFill>
                <a:latin typeface="Segoe UI"/>
              </a:defRPr>
            </a:pPr>
            <a:r>
              <a:rPr dirty="0"/>
              <a:t>🎥  </a:t>
            </a:r>
            <a:r>
              <a:rPr dirty="0" err="1"/>
              <a:t>Vidéo</a:t>
            </a:r>
            <a:r>
              <a:rPr dirty="0"/>
              <a:t> 2 :</a:t>
            </a:r>
            <a:r>
              <a:rPr lang="en-US" dirty="0"/>
              <a:t> </a:t>
            </a:r>
            <a:r>
              <a:rPr lang="en-US" sz="2200" b="1" dirty="0" err="1"/>
              <a:t>Qu'est-ce</a:t>
            </a:r>
            <a:r>
              <a:rPr lang="en-US" sz="2200" b="1" dirty="0"/>
              <a:t> </a:t>
            </a:r>
            <a:r>
              <a:rPr lang="en-US" sz="2200" b="1" dirty="0" err="1"/>
              <a:t>qu'un</a:t>
            </a:r>
            <a:r>
              <a:rPr lang="en-US" sz="2200" b="1" dirty="0"/>
              <a:t> robot ?</a:t>
            </a:r>
          </a:p>
          <a:p>
            <a:pPr algn="l">
              <a:defRPr sz="2200" b="1">
                <a:solidFill>
                  <a:srgbClr val="00C853"/>
                </a:solidFill>
                <a:latin typeface="Segoe UI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338899" y="4657394"/>
            <a:ext cx="7772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D2D2D"/>
                </a:solidFill>
                <a:latin typeface="Segoe UI"/>
              </a:defRPr>
            </a:pPr>
            <a:r>
              <a:rPr lang="en-US" b="1" dirty="0"/>
              <a:t>https://www.youtube.com/watch?v=gT8rHM27N_o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⚡  C'est quoi un micro:bit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Segoe UI"/>
              </a:defRPr>
            </a:pPr>
            <a:r>
              <a:t>Un mini-ordinateur de la taille d'une carte de crédit ! 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48640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"/>
              </a:defRPr>
            </a:pPr>
            <a:r>
              <a:t>🌟 Le micro:bit c'est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Petit et léger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Facile à programmer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Plein de capteurs intégrés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Peut communiquer par radio ! 📻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On programme avec des blocs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Pas besoin d'être un expert !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✅  Créé pour les enfants comme vous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03520" cy="384048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  <a:latin typeface="Segoe UI"/>
              </a:defRPr>
            </a:pPr>
            <a:r>
              <a:t>💡 Ton micro:bit peut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🔴  Allumer des petites lumières (LED)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🎵  Jouer de la musique et des sons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📐  Détecter les mouvements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🌡️  Mesurer la température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💡  Mesurer la luminosité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📻  Envoyer des messages radio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2D2D2D"/>
                </a:solidFill>
                <a:latin typeface="Segoe UI"/>
              </a:defRPr>
            </a:pPr>
            <a:r>
              <a:t>🎤  Écouter les sons (v2)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217920"/>
            <a:ext cx="9418320" cy="548640"/>
          </a:xfrm>
          <a:prstGeom prst="roundRect">
            <a:avLst/>
          </a:prstGeom>
          <a:solidFill>
            <a:srgbClr val="FFC107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62362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E65C00"/>
                </a:solidFill>
                <a:latin typeface="Segoe UI"/>
              </a:defRPr>
            </a:pPr>
            <a:r>
              <a:t>🎁  Et maintenant... on vous donne votre propre micro:bit !!! 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🔘  Les Boutons du micro:bit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Segoe UI"/>
              </a:defRPr>
            </a:pPr>
            <a:r>
              <a:t>🅰️  Bouton A (à gauche)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Situé à gauche de l'écran LED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Quand on appuie, il envoie un signal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On peut le programmer pour faire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ce qu'on veut 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Exemple : afficher un smiley 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5C00"/>
                </a:solidFill>
                <a:latin typeface="Segoe UI"/>
              </a:defRPr>
            </a:pPr>
            <a:r>
              <a:t>🅱️  Bouton B (à droite)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Situé à droite de l'écran LED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Fonctionne comme le bouton 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On peut lui donner une autre action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• Exemple : afficher un cœur ❤️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303520" cy="13716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A148C"/>
                </a:solidFill>
                <a:latin typeface="Segoe UI"/>
              </a:defRPr>
            </a:pPr>
            <a:r>
              <a:t>🅰️ + 🅱️  Les deux ensemble 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Appuyer sur A et B en même temps</a:t>
            </a:r>
            <a:br/>
            <a:r>
              <a:t>→ une troisième action secrète ! 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13716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Segoe UI"/>
              </a:defRPr>
            </a:pPr>
            <a:r>
              <a:t>👆  Logo tactile (micro:bit 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634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Le logo doré en haut est tactile !</a:t>
            </a:r>
            <a:br/>
            <a:r>
              <a:t>On peut le toucher pour déclencher une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760720"/>
            <a:ext cx="8503920" cy="64008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58064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  <a:latin typeface="Segoe UI"/>
              </a:defRPr>
            </a:pPr>
            <a:r>
              <a:t>🎮  Bientôt vous programmerez ces boutons vous-mêmes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💡  L'Écran LED du micro:bit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E53935"/>
                </a:solidFill>
                <a:latin typeface="Segoe UI"/>
              </a:defRPr>
            </a:pPr>
            <a:r>
              <a:t>25 petites lumières rouges : un écran de 5 × 5 LED ! 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114800" cy="4114800"/>
          </a:xfrm>
          <a:prstGeom prst="roundRect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11680" y="228600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51760" y="228600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31920" y="228600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11680" y="292608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292608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91840" y="292608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31920" y="292608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371600" y="356616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011680" y="356616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51760" y="356616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1840" y="356616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31920" y="356616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71600" y="420624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11680" y="420624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651760" y="420624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91840" y="420624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931920" y="420624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371600" y="484632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011680" y="484632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651760" y="4846320"/>
            <a:ext cx="50292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91840" y="484632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931920" y="4846320"/>
            <a:ext cx="502920" cy="502920"/>
          </a:xfrm>
          <a:prstGeom prst="round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53935"/>
                </a:solidFill>
                <a:latin typeface="Segoe UI"/>
              </a:defRPr>
            </a:pPr>
            <a:r>
              <a:t>Exemple : un cœur ❤️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011680"/>
            <a:ext cx="5943600" cy="43891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103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53935"/>
                </a:solidFill>
                <a:latin typeface="Segoe UI"/>
              </a:defRPr>
            </a:pPr>
            <a:r>
              <a:t>🎨  Qu'est-ce qu'on peut afficher 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formes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Cœurs, étoiles, flèches...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smileys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063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Content, triste, surpris...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8404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840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lettres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1605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Votre prénom lettre par lettre 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8404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840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chiffres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1605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Compter, afficher un score...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9377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937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animations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2578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Images qui bougent 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9377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937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53935"/>
                </a:solidFill>
                <a:latin typeface="Segoe UI"/>
              </a:defRPr>
            </a:pPr>
            <a:r>
              <a:t>Des graphiques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2578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Comme un mini-écran 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🏃  Le micro:bit Détecte les Mouvements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E65C00"/>
                </a:solidFill>
                <a:latin typeface="Segoe UI"/>
              </a:defRPr>
            </a:pPr>
            <a:r>
              <a:t>Le micro:bit a un accéléromètre – il sait quand on le bouge ! 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⬆️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E65C00"/>
                </a:solidFill>
                <a:latin typeface="Segoe UI"/>
              </a:defRPr>
            </a:pPr>
            <a:r>
              <a:t>Pencher</a:t>
            </a:r>
            <a:br/>
            <a:r>
              <a:t>en avant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Le micro:bit sait</a:t>
            </a:r>
            <a:br/>
            <a:r>
              <a:t>quand tu l'inclines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56032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⬅️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E65C00"/>
                </a:solidFill>
                <a:latin typeface="Segoe UI"/>
              </a:defRPr>
            </a:pPr>
            <a:r>
              <a:t>Pencher</a:t>
            </a:r>
            <a:br/>
            <a:r>
              <a:t>à gauche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4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Contrôle un jeu</a:t>
            </a:r>
            <a:br/>
            <a:r>
              <a:t>en penchant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256032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E65C00"/>
                </a:solidFill>
                <a:latin typeface="Segoe UI"/>
              </a:defRPr>
            </a:pPr>
            <a:r>
              <a:t>Secouer 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4904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Secoue-le pour</a:t>
            </a:r>
            <a:br/>
            <a:r>
              <a:t>lancer un dé ! 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286000"/>
            <a:ext cx="256032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377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2D2D2D"/>
                </a:solidFill>
                <a:latin typeface="Segoe UI"/>
              </a:defRPr>
            </a:pPr>
            <a:r>
              <a:t>⬇️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175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E65C00"/>
                </a:solidFill>
                <a:latin typeface="Segoe UI"/>
              </a:defRPr>
            </a:pPr>
            <a:r>
              <a:t>Face</a:t>
            </a:r>
            <a:br/>
            <a:r>
              <a:t>en 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74904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Il sait si tu le</a:t>
            </a:r>
            <a:br/>
            <a:r>
              <a:t>retournes 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11247120" cy="1463040"/>
          </a:xfrm>
          <a:prstGeom prst="roundRect">
            <a:avLst/>
          </a:prstGeom>
          <a:solidFill>
            <a:srgbClr val="FFFDE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65C00"/>
                </a:solidFill>
                <a:latin typeface="Segoe UI"/>
              </a:defRPr>
            </a:pPr>
            <a:r>
              <a:t>💡  Idées de projets avec le mouvement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🎲  Dé magique : secoue le micro:bit et il affiche un nombre au hasard 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D2D2D"/>
                </a:solidFill>
                <a:latin typeface="Segoe UI"/>
              </a:defRPr>
            </a:pPr>
            <a:r>
              <a:t>🧭  Boussole : le micro:bit montre le Nord grâce au magnétomètre 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D2D2D"/>
                </a:solidFill>
                <a:latin typeface="Segoe UI"/>
              </a:defRPr>
            </a:pPr>
            <a:r>
              <a:t>🎮  Jeu d'équilibre : penche le micro:bit pour diriger une lumière sur l'écran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📻  Communication 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E91E63"/>
                </a:solidFill>
                <a:latin typeface="Segoe UI"/>
              </a:defRPr>
            </a:pPr>
            <a:r>
              <a:t>Les micro:bits peuvent s'envoyer des messages par radio ! 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91E63"/>
                </a:solidFill>
                <a:latin typeface="Segoe UI"/>
              </a:defRPr>
            </a:pPr>
            <a:r>
              <a:t>📱 micro:bit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34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Appuie sur un bouton</a:t>
            </a:r>
            <a:br/>
            <a:br/>
            <a:r>
              <a:t>→ Envoie un message</a:t>
            </a:r>
            <a:br/>
            <a:r>
              <a:t>par radio</a:t>
            </a:r>
            <a:br/>
            <a:br/>
            <a:r>
              <a:t>🔊 « Bonjour !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200400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E91E63"/>
                </a:solidFill>
                <a:latin typeface="Segoe UI"/>
              </a:defRPr>
            </a:pPr>
            <a:r>
              <a:t>〰️  📡  〰️  📡  〰️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1148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91E63"/>
                </a:solidFill>
                <a:latin typeface="Segoe UI"/>
              </a:defRPr>
            </a:pPr>
            <a:r>
              <a:t>ondes radio invisibles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Segoe UI"/>
              </a:defRPr>
            </a:pPr>
            <a:r>
              <a:t>📱 micro:bit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80"/>
            <a:ext cx="2834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Reçoit le message !</a:t>
            </a:r>
            <a:br/>
            <a:br/>
            <a:r>
              <a:t>→ Affiche sur l'écran</a:t>
            </a:r>
            <a:br/>
            <a:br/>
            <a:r>
              <a:t>😊 « Bonjour !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10058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4A148C"/>
                </a:solidFill>
                <a:latin typeface="Segoe UI"/>
              </a:defRPr>
            </a:pPr>
            <a:r>
              <a:t>🔑  Concepts clés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📻 Groupe radio = la même fréquence → 🤝 Même groupe = on se parle → 📨 Texte, chiffres, ou signaux 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🧩  Comment Programmer le micro:bit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  <a:latin typeface="Segoe UI"/>
              </a:defRPr>
            </a:pPr>
            <a:r>
              <a:t>On utilise MakeCode – un éditeur avec des blocs colorés ! 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560320" cy="29260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Segoe UI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078D4"/>
                </a:solidFill>
                <a:latin typeface="Segoe UI"/>
              </a:defRPr>
            </a:pPr>
            <a:r>
              <a:t>Aller sur le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makecode.microbit.org</a:t>
            </a:r>
            <a:br/>
            <a:r>
              <a:t>Ouvrir dans le navigateur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2926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Segoe UI"/>
              </a:defRPr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0C853"/>
                </a:solidFill>
                <a:latin typeface="Segoe UI"/>
              </a:defRPr>
            </a:pPr>
            <a:r>
              <a:t>Glisser des blocs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6616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Comme un puzzle !</a:t>
            </a:r>
            <a:br/>
            <a:r>
              <a:t>On assemble les pièces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2560320" cy="29260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Segoe UI"/>
              </a:defRPr>
            </a:pPr>
            <a: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7B2D8E"/>
                </a:solidFill>
                <a:latin typeface="Segoe UI"/>
              </a:defRPr>
            </a:pPr>
            <a:r>
              <a:t>Tester dans</a:t>
            </a:r>
            <a:br/>
            <a:r>
              <a:t>le simulateur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6616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On voit le résultat</a:t>
            </a:r>
            <a:br/>
            <a:r>
              <a:t>sur l'écran du site 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194560"/>
            <a:ext cx="2560320" cy="29260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Segoe UI"/>
              </a:defRPr>
            </a:pPr>
            <a: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FF8C00"/>
                </a:solidFill>
                <a:latin typeface="Segoe UI"/>
              </a:defRPr>
            </a:pPr>
            <a:r>
              <a:t>Télécharger</a:t>
            </a:r>
            <a:br/>
            <a:r>
              <a:t>sur le micro:bit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56616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Brancher en USB et</a:t>
            </a:r>
            <a:br/>
            <a:r>
              <a:t>transférer le programme 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394960"/>
            <a:ext cx="7589520" cy="82296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544068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  <a:latin typeface="Segoe UI"/>
              </a:defRPr>
            </a:pPr>
            <a:r>
              <a:t>🌐  makecode.microbit.org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8521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Gratuit, en français, et pas besoin d'installer quoi que ce soit 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❤️  Premier Programme : Le Cœur qui Bat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  <a:latin typeface="Segoe UI"/>
              </a:defRPr>
            </a:pPr>
            <a:r>
              <a:t>Notre premier programme ensemble ! Suivez les étapes 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4884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103120"/>
            <a:ext cx="3200400" cy="731520"/>
          </a:xfrm>
          <a:prstGeom prst="roundRect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toujours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Dans le bloc « toujours »</a:t>
            </a:r>
            <a:br/>
            <a:r>
              <a:t>(il répète sans arrêt)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731520" cy="7315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971800"/>
            <a:ext cx="3200400" cy="731520"/>
          </a:xfrm>
          <a:prstGeom prst="roundRect">
            <a:avLst/>
          </a:prstGeom>
          <a:solidFill>
            <a:srgbClr val="E53935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montrer icône ❤️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Ajouter le bloc</a:t>
            </a:r>
            <a:br/>
            <a:r>
              <a:t>« montrer l'icône cœur »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86200"/>
            <a:ext cx="731520" cy="7315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840480"/>
            <a:ext cx="3200400" cy="731520"/>
          </a:xfrm>
          <a:prstGeom prst="roundRect">
            <a:avLst/>
          </a:prstGeom>
          <a:solidFill>
            <a:srgbClr val="FFF17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Segoe UI"/>
              </a:defRPr>
            </a:pPr>
            <a:r>
              <a:t>pause 500ms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86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Ajouter une pause</a:t>
            </a:r>
            <a:br/>
            <a:r>
              <a:t>d'une demi-seconde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54880"/>
            <a:ext cx="731520" cy="7315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4709160"/>
            <a:ext cx="3200400" cy="73152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475488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montrer icône</a:t>
            </a:r>
            <a:br/>
            <a:r>
              <a:t>petit ❤️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75488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Ajouter le bloc</a:t>
            </a:r>
            <a:br/>
            <a:r>
              <a:t>« montrer petit cœur »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623560"/>
            <a:ext cx="731520" cy="7315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5577840"/>
            <a:ext cx="3200400" cy="731520"/>
          </a:xfrm>
          <a:prstGeom prst="roundRect">
            <a:avLst/>
          </a:prstGeom>
          <a:solidFill>
            <a:srgbClr val="FFF17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562356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Segoe UI"/>
              </a:defRPr>
            </a:pPr>
            <a:r>
              <a:t>pause 500ms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6235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Encore une pause 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2103120"/>
            <a:ext cx="3200400" cy="4297680"/>
          </a:xfrm>
          <a:prstGeom prst="roundRect">
            <a:avLst/>
          </a:prstGeom>
          <a:solidFill>
            <a:srgbClr val="333333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2194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Résultat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9260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0">
                <a:solidFill>
                  <a:srgbClr val="2D2D2D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89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⬇️ puis ⬆️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3776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0">
                <a:solidFill>
                  <a:srgbClr val="2D2D2D"/>
                </a:solidFill>
                <a:latin typeface="Segoe UI"/>
              </a:defRPr>
            </a:pPr>
            <a:r>
              <a:t>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6492240"/>
            <a:ext cx="685800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649224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Segoe UI"/>
              </a:defRPr>
            </a:pPr>
            <a:r>
              <a:t>🎯 Projet : microbit.org/projects/make-it-code-it/beating-heart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🎨  Projets micro:bit pour Vous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  <a:latin typeface="Segoe UI"/>
              </a:defRPr>
            </a:pPr>
            <a:r>
              <a:t>Choisissez un projet et personnalisez-le comme vous voulez !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Cœur qui 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Un cœur qui pulse</a:t>
            </a:r>
            <a:br/>
            <a:r>
              <a:t>sur l'écran 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853"/>
                </a:solidFill>
                <a:latin typeface="Segoe UI"/>
              </a:defRPr>
            </a:pPr>
            <a:r>
              <a:t>Difficulté : 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7B2D8E"/>
                </a:solidFill>
                <a:latin typeface="Segoe UI"/>
              </a:defRPr>
            </a:pPr>
            <a:r>
              <a:t>Animaux animés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Créez votre animal</a:t>
            </a:r>
            <a:br/>
            <a:r>
              <a:t>préféré en pixels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7B2D8E"/>
                </a:solidFill>
                <a:latin typeface="Segoe UI"/>
              </a:defRPr>
            </a:pPr>
            <a:r>
              <a:t>Difficulté :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Badge prénom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26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Affichez votre nom</a:t>
            </a:r>
            <a:br/>
            <a:r>
              <a:t>qui défile 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78D4"/>
                </a:solidFill>
                <a:latin typeface="Segoe UI"/>
              </a:defRPr>
            </a:pPr>
            <a:r>
              <a:t>Difficulté : 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97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00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Émotions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12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Bouton A = content</a:t>
            </a:r>
            <a:br/>
            <a:r>
              <a:t>Bouton B = triste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897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8C00"/>
                </a:solidFill>
                <a:latin typeface="Segoe UI"/>
              </a:defRPr>
            </a:pPr>
            <a:r>
              <a:t>Difficulté : 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4297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343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800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Segoe UI"/>
              </a:defRPr>
            </a:pPr>
            <a:r>
              <a:t>Dé magique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212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Secoue et affiche</a:t>
            </a:r>
            <a:br/>
            <a:r>
              <a:t>un nombre 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897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9688"/>
                </a:solidFill>
                <a:latin typeface="Segoe UI"/>
              </a:defRPr>
            </a:pPr>
            <a:r>
              <a:t>Difficulté : ⭐⭐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29768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Segoe UI"/>
              </a:defRPr>
            </a:pPr>
            <a:r>
              <a:t>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800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  <a:latin typeface="Segoe UI"/>
              </a:defRPr>
            </a:pPr>
            <a:r>
              <a:t>Mini-piano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2120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Appuie sur les boutons</a:t>
            </a:r>
            <a:br/>
            <a:r>
              <a:t>pour jouer des notes 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897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E91E63"/>
                </a:solidFill>
                <a:latin typeface="Segoe UI"/>
              </a:defRPr>
            </a:pPr>
            <a:r>
              <a:t>Difficulté : ⭐⭐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6400800"/>
            <a:ext cx="758952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688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Segoe UI"/>
              </a:defRPr>
            </a:pPr>
            <a:r>
              <a:t>🌐 Plus de projets : microbit.org/projects/make-it-code-it/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🌟  Ce qu'on a appris aujourd'hui 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1188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Des instructions pour les machines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560320" cy="11887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55448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  <a:latin typeface="Segoe UI"/>
              </a:defRPr>
            </a:pPr>
            <a:r>
              <a:t>Les robots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2024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Des machines intelligentes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560320" cy="1188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55448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Segoe UI"/>
              </a:defRPr>
            </a:pPr>
            <a:r>
              <a:t>Le micro:bit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Notre mini-ordinateur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560320" cy="118872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5087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55448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Segoe UI"/>
              </a:defRPr>
            </a:pPr>
            <a:r>
              <a:t>Les boutons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92024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A, B et le logo tactile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2560320" cy="11887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97180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Segoe UI"/>
              </a:defRPr>
            </a:pPr>
            <a:r>
              <a:t>L'écran 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3756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25 lumières pour afficher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880360"/>
            <a:ext cx="2560320" cy="11887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29260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97180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Les capteurs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33756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Mouvement et température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880360"/>
            <a:ext cx="2560320" cy="11887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9260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97180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Segoe UI"/>
              </a:defRPr>
            </a:pPr>
            <a:r>
              <a:t>La radio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33756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Communiquer entre micro:bits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2880360"/>
            <a:ext cx="2560320" cy="1188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0" y="29260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97180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Segoe UI"/>
              </a:defRPr>
            </a:pPr>
            <a:r>
              <a:t>MakeCode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33756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Programmer avec des blocs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389120"/>
            <a:ext cx="10332720" cy="2011680"/>
          </a:xfrm>
          <a:prstGeom prst="roundRect">
            <a:avLst/>
          </a:prstGeom>
          <a:solidFill>
            <a:srgbClr val="FFFDE0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88720" y="448056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65C00"/>
                </a:solidFill>
                <a:latin typeface="Segoe UI"/>
              </a:defRPr>
            </a:pPr>
            <a:r>
              <a:t>🚀  Vous êtes maintenant des apprentis programmeurs 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2D2D2D"/>
                </a:solidFill>
                <a:latin typeface="Segoe UI"/>
              </a:defRPr>
            </a:pPr>
            <a:r>
              <a:t>Continuez à explorer, coder et inventer !</a:t>
            </a:r>
            <a:br/>
            <a:r>
              <a:t>Le monde de la technologie a besoin de vous ! 🌍</a:t>
            </a:r>
            <a:br/>
            <a:br/>
            <a:r>
              <a:t>🌐  microbit.org  •  makecode.microbit.org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🖨️  Et ensuite... l'Impression 3D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4A148C"/>
                </a:solidFill>
                <a:latin typeface="Segoe UI"/>
              </a:defRPr>
            </a:pPr>
            <a:r>
              <a:t>Jad va vous présenter un outil incroyable : l'imprimante 3D ! 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486400" cy="38404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A148C"/>
                </a:solidFill>
                <a:latin typeface="Segoe UI"/>
              </a:defRPr>
            </a:pPr>
            <a:r>
              <a:t>🧊  C'est quoi une imprimante 3D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🏗️  Une machine qui construit des objets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couche par couche, en 3 dimensions !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🎨  On dessine sur l'ordinateur...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et l'imprimante le fabrique en vrai !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🔥  Elle fait fondre du plastique (filament)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et le dépose couche après couche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⏱️  Ça prend du temps, mais le résultat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est magique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486400" cy="38404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5C00"/>
                </a:solidFill>
                <a:latin typeface="Segoe UI"/>
              </a:defRPr>
            </a:pPr>
            <a:r>
              <a:t>🎯  Ce que Jad va vous montrer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🔍  Comment fonctionne une imprimante 3D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📦  Des exemples d'objets imprimés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📱  Le boîtier micro:bit imprimé en 3D !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→ pour protéger votre micro:bit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🎬  Démo en direct si possible !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     → voir l'imprimante en action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2D2D2D"/>
                </a:solidFill>
                <a:latin typeface="Segoe UI"/>
              </a:defRPr>
            </a:pPr>
            <a:r>
              <a:t>❓  Posez toutes vos questions à Jad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309360"/>
            <a:ext cx="9418320" cy="45720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63276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  <a:latin typeface="Segoe UI"/>
              </a:defRPr>
            </a:pPr>
            <a:r>
              <a:t>🚀  Préparez-vous... la prochaine présentation c'est avec Jad ! 🖨️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-457200"/>
            <a:ext cx="1828800" cy="1828800"/>
          </a:xfrm>
          <a:prstGeom prst="ellipse">
            <a:avLst/>
          </a:prstGeom>
          <a:solidFill>
            <a:srgbClr val="1E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10896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5488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4944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9264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73736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8600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83464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8328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3192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8056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2920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7784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2648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7512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4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6968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1832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6696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0" b="0">
                <a:solidFill>
                  <a:srgbClr val="2D2D2D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0" b="0">
                <a:solidFill>
                  <a:srgbClr val="2D2D2D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8404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0">
                <a:solidFill>
                  <a:srgbClr val="2D2D2D"/>
                </a:solidFill>
                <a:latin typeface="Segoe UI"/>
              </a:defRPr>
            </a:pPr>
            <a:r>
              <a:t>🖨️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8404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0">
                <a:solidFill>
                  <a:srgbClr val="2D2D2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Des questions ? 🙋‍♀️🙋‍♂️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On passe maintenant à l'impression 3D avec Jad ! 🖨️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Et après... c'est l'heure de coder ! 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4754880"/>
            <a:ext cx="6675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1752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🌐 Ressources 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16636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microbit.org  •  makecode.microbit.org  •  microbit.org/projects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1746</Words>
  <Application>Microsoft Office PowerPoint</Application>
  <PresentationFormat>Widescreen</PresentationFormat>
  <Paragraphs>332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SAVU Dan</cp:lastModifiedBy>
  <cp:revision>2</cp:revision>
  <dcterms:created xsi:type="dcterms:W3CDTF">2013-01-27T09:14:16Z</dcterms:created>
  <dcterms:modified xsi:type="dcterms:W3CDTF">2026-03-27T16:47:17Z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c084f7-b690-4c43-8ee6-d475b6d3461d_Enabled">
    <vt:lpwstr>true</vt:lpwstr>
  </property>
  <property fmtid="{D5CDD505-2E9C-101B-9397-08002B2CF9AE}" pid="3" name="MSIP_Label_bfc084f7-b690-4c43-8ee6-d475b6d3461d_SetDate">
    <vt:lpwstr>2026-03-27T16:45:29Z</vt:lpwstr>
  </property>
  <property fmtid="{D5CDD505-2E9C-101B-9397-08002B2CF9AE}" pid="4" name="MSIP_Label_bfc084f7-b690-4c43-8ee6-d475b6d3461d_Method">
    <vt:lpwstr>Standard</vt:lpwstr>
  </property>
  <property fmtid="{D5CDD505-2E9C-101B-9397-08002B2CF9AE}" pid="5" name="MSIP_Label_bfc084f7-b690-4c43-8ee6-d475b6d3461d_Name">
    <vt:lpwstr>FOR OFFICIAL USE ONLY</vt:lpwstr>
  </property>
  <property fmtid="{D5CDD505-2E9C-101B-9397-08002B2CF9AE}" pid="6" name="MSIP_Label_bfc084f7-b690-4c43-8ee6-d475b6d3461d_SiteId">
    <vt:lpwstr>faa31b06-8ccc-48c9-867f-f7510dd11c02</vt:lpwstr>
  </property>
  <property fmtid="{D5CDD505-2E9C-101B-9397-08002B2CF9AE}" pid="7" name="MSIP_Label_bfc084f7-b690-4c43-8ee6-d475b6d3461d_ActionId">
    <vt:lpwstr>96e64819-a10b-4418-ae02-98aaec6fe84c</vt:lpwstr>
  </property>
  <property fmtid="{D5CDD505-2E9C-101B-9397-08002B2CF9AE}" pid="8" name="MSIP_Label_bfc084f7-b690-4c43-8ee6-d475b6d3461d_ContentBits">
    <vt:lpwstr>2</vt:lpwstr>
  </property>
  <property fmtid="{D5CDD505-2E9C-101B-9397-08002B2CF9AE}" pid="9" name="MSIP_Label_bfc084f7-b690-4c43-8ee6-d475b6d3461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WIPO FOR OFFICIAL USE ONLY </vt:lpwstr>
  </property>
</Properties>
</file>